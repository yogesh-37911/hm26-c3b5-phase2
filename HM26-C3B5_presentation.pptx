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54864" cy="3756356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996696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92D25"/>
                </a:solidFill>
                <a:latin typeface="Aptos"/>
              </a:defRPr>
            </a:pPr>
            <a:r>
              <a:t>VERIFIABLE PROOF-OF-WORK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192D25"/>
                </a:solidFill>
                <a:latin typeface="Aptos"/>
              </a:defRPr>
            </a:pPr>
            <a:r>
              <a:t>ENGINEERING DISCOVERY &amp; HIRING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135478"/>
            <a:ext cx="97840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4563E"/>
                </a:solidFill>
                <a:latin typeface="Aptos"/>
              </a:defRPr>
            </a:pPr>
            <a:r>
              <a:rPr dirty="0"/>
              <a:t>Proof you can inspect. Skills you can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525806"/>
            <a:ext cx="9966960" cy="1294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rPr dirty="0"/>
              <a:t>Team HM26-C3B5  ·  </a:t>
            </a:r>
            <a:r>
              <a:rPr lang="en-US" dirty="0"/>
              <a:t> </a:t>
            </a:r>
            <a:r>
              <a:rPr dirty="0"/>
              <a:t>Members: [</a:t>
            </a:r>
            <a:r>
              <a:rPr lang="en-US" dirty="0"/>
              <a:t> YOGESH S </a:t>
            </a:r>
            <a:r>
              <a:rPr dirty="0"/>
              <a:t>]  </a:t>
            </a:r>
            <a:r>
              <a:rPr lang="en-US" dirty="0"/>
              <a:t>           </a:t>
            </a:r>
            <a:r>
              <a:rPr dirty="0"/>
              <a:t>·  Colleges: [</a:t>
            </a:r>
            <a:r>
              <a:rPr lang="en-US" dirty="0"/>
              <a:t> Amrita School Of Computing</a:t>
            </a:r>
            <a:r>
              <a:rPr dirty="0"/>
              <a:t>]</a:t>
            </a:r>
            <a:endParaRPr lang="en-US" dirty="0"/>
          </a:p>
          <a:p>
            <a:pPr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rPr lang="en-US" dirty="0"/>
              <a:t>                                        ·   Members: [AMAL ]                        ·  Colleges: [ Jain Deemed to be University ]</a:t>
            </a:r>
          </a:p>
          <a:p>
            <a:pPr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rPr lang="en-US" dirty="0"/>
              <a:t>                                        ·   Members: [ NISHKALA  G B ]    ·  Colleges: [Amrita School Of Computing]</a:t>
            </a:r>
          </a:p>
          <a:p>
            <a:pPr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rPr lang="en-US" dirty="0"/>
              <a:t>         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78408" y="5104638"/>
            <a:ext cx="9966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5756C"/>
                </a:solidFill>
                <a:latin typeface="Aptos"/>
              </a:defRPr>
            </a:pPr>
            <a:r>
              <a:rPr dirty="0"/>
              <a:t>Selected problem · The proof gap in cybersecurity hiring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THE PROOF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1060704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92D25"/>
                </a:solidFill>
                <a:latin typeface="Aptos"/>
              </a:defRPr>
            </a:pPr>
            <a:r>
              <a:t>Resumes and certificates show claims. They rarely show reproducible work, sound reasoning, or how a candidate explains a finding.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10835640" cy="1737360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2"/>
            <a:ext cx="9966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A MYSURU HIRING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996696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A local team screens many applicants. A capable candidate without a familiar credential is easy to miss; an inflated claim is hard to verify.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9966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5756C"/>
                </a:solidFill>
                <a:latin typeface="Aptos"/>
              </a:defRPr>
            </a:pPr>
            <a:r>
              <a:t>Candidates lose visibility. Reviewers spend time rechecking. Recruiters lack comparable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WHO IT SERVES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20240"/>
            <a:ext cx="3401568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40280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292608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Demonstrates work through a finding, assessment and technical defense. Needs a clear path and low-bandwidth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401568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292608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Checks reproduction evidence, records a decision and scores defense. Human judgment remains authoritative.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920240"/>
            <a:ext cx="3401568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2240280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743200"/>
            <a:ext cx="292608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5332C"/>
                </a:solidFill>
                <a:latin typeface="Aptos"/>
              </a:defRPr>
            </a:pPr>
            <a:r>
              <a:t>Filters evidence-backed profiles and reviews sanitized proof before inviting candidates.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FROM WORK TO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1783080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3840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801368"/>
            <a:ext cx="9966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Candidate completes a section assessment and submits a structured finding.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441448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3840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459736"/>
            <a:ext cx="9966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API scores answers server-side and hashes submitted evidence.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099815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182111"/>
            <a:ext cx="3840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118103"/>
            <a:ext cx="9966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Reviewer reproduces, questions and records a decision.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758184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840480"/>
            <a:ext cx="3840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776472"/>
            <a:ext cx="9966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Verified records inform capability and proof-confidence signals.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4416552"/>
            <a:ext cx="384048" cy="384048"/>
          </a:xfrm>
          <a:prstGeom prst="ellipse">
            <a:avLst/>
          </a:prstGeom>
          <a:solidFill>
            <a:srgbClr val="EDF3EB"/>
          </a:solidFill>
          <a:ln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4498848"/>
            <a:ext cx="38404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456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434840"/>
            <a:ext cx="9966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Recruiter inspects sanitized proof and can invite the candidate.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21808"/>
            <a:ext cx="10835640" cy="713232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 w="10160">
            <a:solidFill>
              <a:srgbClr val="F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5468112"/>
            <a:ext cx="2194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C56D3E"/>
                </a:solidFill>
                <a:latin typeface="Aptos"/>
              </a:defRPr>
            </a:pPr>
            <a:r>
              <a:t>PRODUCT CAPTURE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5458968"/>
            <a:ext cx="813816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5756C"/>
                </a:solidFill>
                <a:latin typeface="Aptos"/>
              </a:defRPr>
            </a:pPr>
            <a:r>
              <a:t>No genuine screenshots are checked in. Replace this with a capture of the running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07899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4563E"/>
                </a:solidFill>
                <a:latin typeface="Aptos"/>
              </a:defRPr>
            </a:pPr>
            <a:r>
              <a:t>React + TypeScript role workspaces  →  Flask modular API  → 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313432"/>
            <a:ext cx="1682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Candidate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14884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2313432"/>
            <a:ext cx="1682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Reviewer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14884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1192" y="2313432"/>
            <a:ext cx="1682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Recruiter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33756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50791" y="3502152"/>
            <a:ext cx="1682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Flask modular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461772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50791" y="4782312"/>
            <a:ext cx="1682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337560"/>
            <a:ext cx="173736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2" y="3502152"/>
            <a:ext cx="159105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Audit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617720"/>
            <a:ext cx="173736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9872" y="4782312"/>
            <a:ext cx="159105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Evidence SHA-256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182880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782312"/>
            <a:ext cx="168249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Authorized isolated lab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337560"/>
            <a:ext cx="21488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19" y="3502152"/>
            <a:ext cx="200253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2D25"/>
                </a:solidFill>
                <a:latin typeface="Aptos"/>
              </a:defRPr>
            </a:pPr>
            <a:r>
              <a:t>Managed browser / network allowlist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91640" y="2715768"/>
            <a:ext cx="3200400" cy="621792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92040" y="2715768"/>
            <a:ext cx="0" cy="621792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92040" y="2715768"/>
            <a:ext cx="3200400" cy="621792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92040" y="3904487"/>
            <a:ext cx="0" cy="713233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3621024"/>
            <a:ext cx="2240280" cy="0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06440" y="3749039"/>
            <a:ext cx="2240280" cy="1051561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37360" y="3904487"/>
            <a:ext cx="0" cy="713233"/>
          </a:xfrm>
          <a:prstGeom prst="line">
            <a:avLst/>
          </a:prstGeom>
          <a:ln w="15240">
            <a:solidFill>
              <a:srgbClr val="245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5486400"/>
            <a:ext cx="107899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5756C"/>
                </a:solidFill>
                <a:latin typeface="Aptos"/>
              </a:defRPr>
            </a:pPr>
            <a:r>
              <a:t>API records audit events and hashes evidence. Candidate lab UI is synthetic; no isolated target is provisioned.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CONSTRAINTS &amp; HONEST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1033272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Evidence integrity · SHA-256 hash and duplicate flag in API  |  PARTIAL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1033272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Jurisdiction · No isolated lab provisioned; do not test arbitrary targets  |  NOT BUILT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74136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33272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Priority · Human reviewer controls verification  |  HANDLED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9663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1033272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Bad input · API validates assessment shape and finding fields  |  PARTIAL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65192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111496"/>
            <a:ext cx="1033272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Offline · Local SQLite fallback; no offline sync guarantee  |  PARTIAL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THE KEY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257800" cy="2423160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663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4563E"/>
                </a:solidFill>
                <a:latin typeface="Aptos"/>
              </a:defRPr>
            </a:pPr>
            <a:r>
              <a:t>CHOSEN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6344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5332C"/>
                </a:solidFill>
                <a:latin typeface="Aptos"/>
              </a:defRPr>
            </a:pPr>
            <a:r>
              <a:t>Deterministic server-side scoring + structured evidence + human reviewer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57800" cy="2423160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 w="10160">
            <a:solidFill>
              <a:srgbClr val="F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103120"/>
            <a:ext cx="4663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C56D3E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51760"/>
            <a:ext cx="4663440" cy="1325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5332C"/>
                </a:solidFill>
                <a:latin typeface="Aptos"/>
              </a:defRPr>
            </a:pPr>
            <a:r>
              <a:t>LLM as final grader: faster feedback, but less repeatable and harder to defend on adversarial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09160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92D25"/>
                </a:solidFill>
                <a:latin typeface="Aptos"/>
              </a:defRPr>
            </a:pPr>
            <a:r>
              <a:t>TRADE-OFF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138928"/>
            <a:ext cx="106984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65756C"/>
                </a:solidFill>
                <a:latin typeface="Aptos"/>
              </a:defRPr>
            </a:pPr>
            <a:r>
              <a:t>Human review takes longer and creates a reviewer-capacity bottleneck. The MVP favors explainable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WHAT THE CODE PROVES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075688"/>
            <a:ext cx="3063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API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0320"/>
            <a:ext cx="306324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Assessment answer keys stay server-side; each section score is persisted.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63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Review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60320"/>
            <a:ext cx="306324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Human reviewer decisions, defense responses and rubric values have API persistence.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456432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063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4563E"/>
                </a:solidFill>
                <a:latin typeface="Aptos"/>
              </a:defRPr>
            </a:pPr>
            <a:r>
              <a:t>Discovery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06324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API sanitizes verified proof. Some candidate and recruiter screens still use synthetic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10835640" cy="1188720"/>
          </a:xfrm>
          <a:prstGeom prst="roundRect">
            <a:avLst>
              <a:gd name="adj" fmla="val 9000"/>
            </a:avLst>
          </a:prstGeom>
          <a:solidFill>
            <a:srgbClr val="F1EEE4"/>
          </a:solidFill>
          <a:ln w="10160">
            <a:solidFill>
              <a:srgbClr val="F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352544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56D3E"/>
                </a:solidFill>
                <a:latin typeface="Aptos"/>
              </a:defRPr>
            </a:pPr>
            <a:r>
              <a:t>REAL CAPTURE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09160"/>
            <a:ext cx="10149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5756C"/>
                </a:solidFill>
                <a:latin typeface="Aptos"/>
              </a:defRPr>
            </a:pPr>
            <a:r>
              <a:t>Add 2–3 genuine screenshots: candidate assessment, reviewer decision, recruiter sanitized proof. None are checked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554F5F0-25E3-1F6D-9551-E45278A85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2"/>
            <a:ext cx="12192000" cy="6531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69E96-B248-C803-31C2-27F497F2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B7FD95D-9CCC-5FC1-DB81-848DBF254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2"/>
            <a:ext cx="12192000" cy="65316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0B2A0F-5C64-B10F-95D9-738BFCCC2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3"/>
            <a:ext cx="12192000" cy="68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5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5760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FREQUENCY  /  PROOFFORGE CYBER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822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65756C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92D25"/>
                </a:solidFill>
                <a:latin typeface="Aptos"/>
              </a:defRPr>
            </a:pPr>
            <a:r>
              <a:t>NEXT &amp;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44168"/>
            <a:ext cx="10881360" cy="10972"/>
          </a:xfrm>
          <a:prstGeom prst="rect">
            <a:avLst/>
          </a:prstGeom>
          <a:solidFill>
            <a:srgbClr val="DCE4D9"/>
          </a:solidFill>
          <a:ln w="1016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428232"/>
            <a:ext cx="54864" cy="274320"/>
          </a:xfrm>
          <a:prstGeom prst="rect">
            <a:avLst/>
          </a:prstGeom>
          <a:solidFill>
            <a:srgbClr val="24563E"/>
          </a:solidFill>
          <a:ln w="10160">
            <a:solidFill>
              <a:srgbClr val="245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46520"/>
            <a:ext cx="5943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TEAM HM26-C3B5  ·  EVIDENCE BEFORE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28016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65756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1  Connect role pages to authenticated persisted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22576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2  Provision isolated, resettable labs with egress denied.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3  Add shared rate limiting, monitoring and peak-load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29584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5332C"/>
                </a:solidFill>
                <a:latin typeface="Aptos"/>
              </a:defRPr>
            </a:pPr>
            <a:r>
              <a:t>AI disclosure: Claude/Gemini assisted development; no runtime LLM makes hiring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80"/>
            <a:ext cx="10835640" cy="1371600"/>
          </a:xfrm>
          <a:prstGeom prst="roundRect">
            <a:avLst>
              <a:gd name="adj" fmla="val 9000"/>
            </a:avLst>
          </a:prstGeom>
          <a:solidFill>
            <a:srgbClr val="EDF3EB"/>
          </a:solidFill>
          <a:ln w="10160">
            <a:solidFill>
              <a:srgbClr val="ED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C40C8E-777F-C18E-3740-D743C7EEA776}"/>
              </a:ext>
            </a:extLst>
          </p:cNvPr>
          <p:cNvGrpSpPr/>
          <p:nvPr/>
        </p:nvGrpSpPr>
        <p:grpSpPr>
          <a:xfrm>
            <a:off x="960120" y="4809744"/>
            <a:ext cx="10287000" cy="704088"/>
            <a:chOff x="914400" y="4718304"/>
            <a:chExt cx="10287000" cy="704088"/>
          </a:xfrm>
        </p:grpSpPr>
        <p:sp>
          <p:nvSpPr>
            <p:cNvPr id="15" name="TextBox 14"/>
            <p:cNvSpPr txBox="1"/>
            <p:nvPr/>
          </p:nvSpPr>
          <p:spPr>
            <a:xfrm>
              <a:off x="914400" y="4754880"/>
              <a:ext cx="1371600" cy="2286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>
                <a:spcAft>
                  <a:spcPts val="500"/>
                </a:spcAft>
                <a:defRPr sz="1300" b="1">
                  <a:solidFill>
                    <a:srgbClr val="24563E"/>
                  </a:solidFill>
                  <a:latin typeface="Aptos"/>
                </a:defRPr>
              </a:pPr>
              <a:r>
                <a:rPr dirty="0"/>
                <a:t>LIVE MVP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31720" y="4718304"/>
              <a:ext cx="8869680" cy="29260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>
                <a:spcAft>
                  <a:spcPts val="500"/>
                </a:spcAft>
                <a:defRPr sz="1500" b="0">
                  <a:solidFill>
                    <a:srgbClr val="24563E"/>
                  </a:solidFill>
                  <a:latin typeface="Aptos"/>
                </a:defRPr>
              </a:pPr>
              <a:r>
                <a:rPr dirty="0"/>
                <a:t>https://proofforge-cyber.onrender.com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" y="5166360"/>
              <a:ext cx="1371600" cy="22860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>
                <a:spcAft>
                  <a:spcPts val="500"/>
                </a:spcAft>
                <a:defRPr sz="1300" b="1">
                  <a:solidFill>
                    <a:srgbClr val="24563E"/>
                  </a:solidFill>
                  <a:latin typeface="Aptos"/>
                </a:defRPr>
              </a:pPr>
              <a:r>
                <a:rPr dirty="0"/>
                <a:t>REPOSITORY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31720" y="5129784"/>
              <a:ext cx="8869680" cy="29260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>
                <a:spcAft>
                  <a:spcPts val="500"/>
                </a:spcAft>
                <a:defRPr sz="1500" b="0">
                  <a:solidFill>
                    <a:srgbClr val="25332C"/>
                  </a:solidFill>
                  <a:latin typeface="Aptos"/>
                </a:defRPr>
              </a:pPr>
              <a:r>
                <a:rPr dirty="0"/>
                <a:t>github.com/yogesh-37911/HM26-C3B5-Phase2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713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HM26-C3B5 Presentation — FREQUENCY / ProofForge Cyber</dc:title>
  <dc:subject>Verifiable Proof-of-Work Engineering Discovery &amp; Hiring Platform</dc:subject>
  <dc:creator>Team HM26-C3B5</dc:creator>
  <cp:keywords/>
  <dc:description>generated using python-pptx</dc:description>
  <cp:lastModifiedBy>Yogesh S</cp:lastModifiedBy>
  <cp:revision>2</cp:revision>
  <dcterms:created xsi:type="dcterms:W3CDTF">2013-01-27T09:14:16Z</dcterms:created>
  <dcterms:modified xsi:type="dcterms:W3CDTF">2026-09-27T00:55:49Z</dcterms:modified>
  <cp:category/>
</cp:coreProperties>
</file>